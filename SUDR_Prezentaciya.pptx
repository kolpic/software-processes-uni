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Представям курсовия си проект по Управление на софтуерни проекти - Система за управление на дипломни работи. Проектът е индивидуален, а избраната методология е гъвкава (Scrum).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Днес всичко върви по имейл, хартия и споделени таблици. Няма едно общо място, където студент и ръководител да виждат статуса, версиите и сроковете. Това води до объркване и пропуснати срокове.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Решението е уеб базирана система, която обединява всичко. Четирите основни ползи са: единна платформа, прозрачност, проследимост и навременни известия.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Изискванията са разделени на минимални - това, което системата задължително трябва да прави - и желани, които ще направим само ако има време. Това разделение е ключово за приоритизацията в Scrum.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Сравних двете методологии. Waterfall е добра при стабилни изисквания, но тук изискванията не са фиксирани от самото начало. Затова избрах Scrum - дава работещ резултат на всеки спринт, лесно поема промени и намалява риска.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Идентифицирах шест основни риска. Най-сериозните са неясните изисквания и недостигът на време - и двата със стратегии за смекчаване, вградени в самия избор на Scrum: кратки спринтове и фокус върху MVP.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Разбих работата на седем основни групи - от управлението на проекта, през анализа, проектирането и разработката, до тестването, демонстрацията и документацията. Разработката е най-големият дял със седем модула.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Основните осем истории формират MVP-то - общо 36 точки. Оценявам ги по скалата на Фибоначи, която измерва усилие, а не часове. Желаните две истории са още 21 точки и остават за накрая, ако има време.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Работя на двуседмични спринтове - четири за MVP-то и един буферен. Всеки спринт минава през планиране, ежедневна самопроверка, преглед с демонстрация пред ръководителя и ретроспекция. Инструменти: Git и дъска със задачи.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Най-важната заинтересована страна е научният ръководител - висок интерес и влияние. Комуникационният план определя кой какво получава, по какъв начин, с какъв тон и колко често - повечето официално и обвързано с ритъма на спринтовете.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заключение: проектът има ясен обхват, добре обоснован избор на Scrum, планирани рискове и пълна документация. Благодаря за вниманието - готов съм за въпроси.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СУДР - Система за управление на дипломни работи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F9E8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6400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Пловдивски университет „Паисий Хилендарски“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Дисциплина: Управление на софтуерни проекти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31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1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КУРСОВ ПРОЕКТ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4320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Система за управление</a:t>
            </a:r>
            <a:endParaRPr lang="en-US" sz="4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 дипломни работи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3434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(СУДР)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777240" y="5212080"/>
            <a:ext cx="3657600" cy="0"/>
          </a:xfrm>
          <a:prstGeom prst="line">
            <a:avLst/>
          </a:prstGeom>
          <a:noFill/>
          <a:ln w="25400">
            <a:solidFill>
              <a:srgbClr val="1F9E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53949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Изготвил: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Галин Петров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Факултетен номер: СИ 2301322006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Проблемът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Процесът по дипломни работи във висшите училища се управлява ръчно и разпокъсано.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57200" y="2057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203911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Разпокъсана комуникация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35000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Имейли и лични срещи без обща история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971800"/>
            <a:ext cx="502920" cy="502920"/>
          </a:xfrm>
          <a:prstGeom prst="ellipse">
            <a:avLst/>
          </a:prstGeom>
          <a:solidFill>
            <a:srgbClr val="3A5BA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95351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Хаос с темите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26440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Избор на хартия или в споделени таблици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886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86791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Изгубени версии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417880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Няма проследимост на документите и одобренията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4800600"/>
            <a:ext cx="502920" cy="502920"/>
          </a:xfrm>
          <a:prstGeom prst="ellipse">
            <a:avLst/>
          </a:prstGeom>
          <a:solidFill>
            <a:srgbClr val="3A5BA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478231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Пропуснати срокове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509320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Липса на централно проследяване и напомняния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589520" y="1371600"/>
            <a:ext cx="4114800" cy="4206240"/>
          </a:xfrm>
          <a:prstGeom prst="roundRect">
            <a:avLst>
              <a:gd name="adj" fmla="val 1778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9AA7BD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589520" y="1645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СИСТЕМА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 rot="-180000">
            <a:off x="7909560" y="2194560"/>
            <a:ext cx="16459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 rot="-180000">
            <a:off x="7909560" y="21945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Имейл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 rot="240000">
            <a:off x="9738360" y="2194560"/>
            <a:ext cx="16459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 rot="240000">
            <a:off x="9738360" y="21945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 rot="-180000">
            <a:off x="7909560" y="3200400"/>
            <a:ext cx="16459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 rot="-180000">
            <a:off x="7909560" y="320040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Хартия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 rot="240000">
            <a:off x="9738360" y="3200400"/>
            <a:ext cx="16459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 rot="240000">
            <a:off x="9738360" y="320040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 rot="-180000">
            <a:off x="7909560" y="4206240"/>
            <a:ext cx="16459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 rot="-180000">
            <a:off x="7909560" y="420624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 rot="240000">
            <a:off x="9738360" y="4206240"/>
            <a:ext cx="16459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 rot="240000">
            <a:off x="9738360" y="420624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Папки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Решението и целите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Уеб система, която централизира целия жизнен цикъл на дипломната работа - от избора на тема до защитата.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9AA7BD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2011680"/>
            <a:ext cx="128016" cy="1783080"/>
          </a:xfrm>
          <a:prstGeom prst="roundRect">
            <a:avLst>
              <a:gd name="adj" fmla="val 42857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2402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Единна платформа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Край на имейлите и хартията - всичко на едно място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201168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9AA7BD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2011680"/>
            <a:ext cx="128016" cy="1783080"/>
          </a:xfrm>
          <a:prstGeom prst="roundRect">
            <a:avLst>
              <a:gd name="adj" fmla="val 42857"/>
            </a:avLst>
          </a:prstGeom>
          <a:solidFill>
            <a:srgbClr val="3A5BA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0" y="22402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A5B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Прозрачност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78892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Всяка страна вижда ясно статуса и напредъка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02336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9AA7BD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4023360"/>
            <a:ext cx="128016" cy="1783080"/>
          </a:xfrm>
          <a:prstGeom prst="roundRect">
            <a:avLst>
              <a:gd name="adj" fmla="val 42857"/>
            </a:avLst>
          </a:prstGeom>
          <a:solidFill>
            <a:srgbClr val="1F9E8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251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9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Проследимост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8006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на версиите и обратната връзка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402336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9AA7BD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4023360"/>
            <a:ext cx="128016" cy="1783080"/>
          </a:xfrm>
          <a:prstGeom prst="roundRect">
            <a:avLst>
              <a:gd name="adj" fmla="val 42857"/>
            </a:avLst>
          </a:prstGeom>
          <a:solidFill>
            <a:srgbClr val="E8A23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0" y="4251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A2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Навреме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48006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Известия и напомняния за всички срокове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Изисквания на клиента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5577840" cy="4846320"/>
          </a:xfrm>
          <a:prstGeom prst="roundRect">
            <a:avLst>
              <a:gd name="adj" fmla="val 1509"/>
            </a:avLst>
          </a:prstGeom>
          <a:solidFill>
            <a:srgbClr val="E8F0FB"/>
          </a:solidFill>
          <a:ln/>
          <a:effectLst>
            <a:outerShdw sx="100000" sy="100000" kx="0" ky="0" algn="bl" rotWithShape="0" blurRad="76200" dist="25400" dir="5400000">
              <a:srgbClr val="9AA7BD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МИНИМАЛНИ (задължителни)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65960"/>
            <a:ext cx="50292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и роли: студент, преподавател, админ</a:t>
            </a:r>
            <a:endParaRPr lang="en-US" sz="145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с теми за дипломни работи</a:t>
            </a:r>
            <a:endParaRPr lang="en-US" sz="145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Заявка за тема и одобрение</a:t>
            </a:r>
            <a:endParaRPr lang="en-US" sz="145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Проследяване на статус на работата</a:t>
            </a:r>
            <a:endParaRPr lang="en-US" sz="145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Качване на версии с история</a:t>
            </a:r>
            <a:endParaRPr lang="en-US" sz="145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Коментари и обратна връзка</a:t>
            </a:r>
            <a:endParaRPr lang="en-US" sz="145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Имейл известия за важни събития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72200" y="1234440"/>
            <a:ext cx="5559552" cy="4846320"/>
          </a:xfrm>
          <a:prstGeom prst="roundRect">
            <a:avLst>
              <a:gd name="adj" fmla="val 1509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9AA7BD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46520" y="14630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ЖЕЛАНИ (ако има ресурс)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19659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Насрочване на защити и график</a:t>
            </a:r>
            <a:endParaRPr lang="en-US" sz="145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за плагиатство</a:t>
            </a:r>
            <a:endParaRPr lang="en-US" sz="145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Табло със статистика за катедрата</a:t>
            </a:r>
            <a:endParaRPr lang="en-US" sz="145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Адаптивен / мобилен интерфейс</a:t>
            </a:r>
            <a:endParaRPr lang="en-US" sz="145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Експорт на протоколи и документи в PDF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92240" y="4892040"/>
            <a:ext cx="4937760" cy="0"/>
          </a:xfrm>
          <a:prstGeom prst="line">
            <a:avLst/>
          </a:prstGeom>
          <a:noFill/>
          <a:ln w="12700">
            <a:solidFill>
              <a:srgbClr val="D5DE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502920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Ограничения: </a:t>
            </a:r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уеб браузър, GDPR, интеграция с университетската автентикация.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Избор на методология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577840" cy="3657600"/>
          </a:xfrm>
          <a:prstGeom prst="roundRect">
            <a:avLst>
              <a:gd name="adj" fmla="val 2000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9AA7BD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Waterfall (планова)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2024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Ясен план, предвидими срокове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Добра при стабилни изисквания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Трудно поема промени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Резултат се вижда чак в края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Висок риск при грешка в началото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72200" y="1188720"/>
            <a:ext cx="5559552" cy="3657600"/>
          </a:xfrm>
          <a:prstGeom prst="roundRect">
            <a:avLst>
              <a:gd name="adj" fmla="val 2000"/>
            </a:avLst>
          </a:prstGeom>
          <a:solidFill>
            <a:srgbClr val="E8F0FB"/>
          </a:solidFill>
          <a:ln w="25400">
            <a:solidFill>
              <a:srgbClr val="1E2761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D">
                <a:alpha val="4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46520" y="1371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 (гъвкава)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192024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Работещ резултат на всеки спринт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Лесно поема промени в изискванията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Ранна и честа обратна връзка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Най-ценните функции - първи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Изисква дисциплина и редовни срещи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57200" y="5074920"/>
            <a:ext cx="11274552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5074920"/>
            <a:ext cx="10698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Избор:  </a:t>
            </a:r>
            <a:pPr indent="0" marL="0">
              <a:buNone/>
            </a:pPr>
            <a:r>
              <a:rPr lang="en-US" sz="1500" b="1" dirty="0">
                <a:solidFill>
                  <a:srgbClr val="1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изискванията се избистрят в процеса, ранен MVP, нисък риск чрез кратки итерации.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Регистър на рисковете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74552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274320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1188720"/>
            <a:ext cx="566928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Стратегия за управление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052560" y="11887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515600" y="1188720"/>
            <a:ext cx="1216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Възд.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737360"/>
            <a:ext cx="2743200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Неясни изисквания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1737360"/>
            <a:ext cx="5669280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Чести прегледи; приоритизиран backlog; спринтове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0" y="1984248"/>
            <a:ext cx="1188720" cy="365760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0" y="19842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Висока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0607040" y="1984248"/>
            <a:ext cx="1188720" cy="365760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607040" y="19842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Високо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606040"/>
            <a:ext cx="11274552" cy="86868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2606040"/>
            <a:ext cx="2743200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Недостиг на време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2606040"/>
            <a:ext cx="5669280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Фокус върху MVP; желани функции - опционални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44000" y="2852928"/>
            <a:ext cx="1188720" cy="365760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0" y="28529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Висока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0607040" y="2852928"/>
            <a:ext cx="1188720" cy="365760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607040" y="28529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Високо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474720"/>
            <a:ext cx="2743200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Технически трудности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291840" y="3474720"/>
            <a:ext cx="5669280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Ранно прототипиране; резервни по-прости решения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144000" y="3721608"/>
            <a:ext cx="1188720" cy="365760"/>
          </a:xfrm>
          <a:prstGeom prst="roundRect">
            <a:avLst>
              <a:gd name="adj" fmla="val 25000"/>
            </a:avLst>
          </a:prstGeom>
          <a:solidFill>
            <a:srgbClr val="E8A23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0" y="37216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Средна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0607040" y="3721608"/>
            <a:ext cx="1188720" cy="365760"/>
          </a:xfrm>
          <a:prstGeom prst="roundRect">
            <a:avLst>
              <a:gd name="adj" fmla="val 25000"/>
            </a:avLst>
          </a:prstGeom>
          <a:solidFill>
            <a:srgbClr val="E8A23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607040" y="37216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Средно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7200" y="4343400"/>
            <a:ext cx="11274552" cy="86868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57200" y="4343400"/>
            <a:ext cx="2743200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Загуба на данни/код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291840" y="4343400"/>
            <a:ext cx="5669280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за версии; редовни резервни копия в облак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144000" y="4590288"/>
            <a:ext cx="1188720" cy="365760"/>
          </a:xfrm>
          <a:prstGeom prst="roundRect">
            <a:avLst>
              <a:gd name="adj" fmla="val 25000"/>
            </a:avLst>
          </a:prstGeom>
          <a:solidFill>
            <a:srgbClr val="1F9E8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144000" y="459028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Ниска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0607040" y="4590288"/>
            <a:ext cx="1188720" cy="365760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10607040" y="459028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Високо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5212080"/>
            <a:ext cx="2743200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на лични данни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3291840" y="5212080"/>
            <a:ext cx="5669280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GDPR; криптиране на пароли; минимум данни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9144000" y="5458968"/>
            <a:ext cx="1188720" cy="365760"/>
          </a:xfrm>
          <a:prstGeom prst="roundRect">
            <a:avLst>
              <a:gd name="adj" fmla="val 25000"/>
            </a:avLst>
          </a:prstGeom>
          <a:solidFill>
            <a:srgbClr val="E8A23D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144000" y="54589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Средна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10607040" y="5458968"/>
            <a:ext cx="1188720" cy="365760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10607040" y="54589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Високо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Пълният регистър съдържа 6 риска с 5 колони (име, описание, стратегия, вероятност, въздействие).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Структура на разбивка на работата (WBS)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440680" cy="841248"/>
          </a:xfrm>
          <a:prstGeom prst="roundRect">
            <a:avLst>
              <a:gd name="adj" fmla="val 8696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9AA7BD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36245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362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2801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Управление на проекта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6276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Планиране, рискове, спринтове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188720"/>
            <a:ext cx="5440680" cy="841248"/>
          </a:xfrm>
          <a:prstGeom prst="roundRect">
            <a:avLst>
              <a:gd name="adj" fmla="val 8696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9AA7BD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0" y="1362456"/>
            <a:ext cx="502920" cy="502920"/>
          </a:xfrm>
          <a:prstGeom prst="ellipse">
            <a:avLst/>
          </a:prstGeom>
          <a:solidFill>
            <a:srgbClr val="3A5BA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0" y="1362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086600" y="12801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Анализ и изисквания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16276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Истории, backlog, приоритети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176272"/>
            <a:ext cx="5440680" cy="841248"/>
          </a:xfrm>
          <a:prstGeom prst="roundRect">
            <a:avLst>
              <a:gd name="adj" fmla="val 8696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9AA7BD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350008"/>
            <a:ext cx="502920" cy="502920"/>
          </a:xfrm>
          <a:prstGeom prst="ellipse">
            <a:avLst/>
          </a:prstGeom>
          <a:solidFill>
            <a:srgbClr val="1F9E8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2350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22677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Проектиране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261518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Архитектура, база данни, UI макети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2176272"/>
            <a:ext cx="5440680" cy="841248"/>
          </a:xfrm>
          <a:prstGeom prst="roundRect">
            <a:avLst>
              <a:gd name="adj" fmla="val 8696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9AA7BD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0" y="235000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0" y="2350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22677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Разработка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261518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модула: вход, теми, заявки, статус, версии…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3163824"/>
            <a:ext cx="5440680" cy="841248"/>
          </a:xfrm>
          <a:prstGeom prst="roundRect">
            <a:avLst>
              <a:gd name="adj" fmla="val 8696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9AA7BD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3337560"/>
            <a:ext cx="502920" cy="502920"/>
          </a:xfrm>
          <a:prstGeom prst="ellipse">
            <a:avLst/>
          </a:prstGeom>
          <a:solidFill>
            <a:srgbClr val="3A5BA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325526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Тестване</a:t>
            </a:r>
            <a:endParaRPr lang="en-US" sz="155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360273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Функционално, интеграционно, дефекти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17920" y="3163824"/>
            <a:ext cx="5440680" cy="841248"/>
          </a:xfrm>
          <a:prstGeom prst="roundRect">
            <a:avLst>
              <a:gd name="adj" fmla="val 8696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9AA7BD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00800" y="3337560"/>
            <a:ext cx="502920" cy="502920"/>
          </a:xfrm>
          <a:prstGeom prst="ellipse">
            <a:avLst/>
          </a:prstGeom>
          <a:solidFill>
            <a:srgbClr val="1F9E8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0080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086600" y="325526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Внедряване и демо</a:t>
            </a:r>
            <a:endParaRPr lang="en-US" sz="1550" dirty="0"/>
          </a:p>
        </p:txBody>
      </p:sp>
      <p:sp>
        <p:nvSpPr>
          <p:cNvPr id="32" name="Text 30"/>
          <p:cNvSpPr txBox="1"/>
          <p:nvPr/>
        </p:nvSpPr>
        <p:spPr>
          <a:xfrm>
            <a:off x="7086600" y="360273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Тестова среда, демонстрация пред клиента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57200" y="4151376"/>
            <a:ext cx="5440680" cy="841248"/>
          </a:xfrm>
          <a:prstGeom prst="roundRect">
            <a:avLst>
              <a:gd name="adj" fmla="val 8696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9AA7BD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0080" y="4325112"/>
            <a:ext cx="502920" cy="502920"/>
          </a:xfrm>
          <a:prstGeom prst="ellipse">
            <a:avLst/>
          </a:prstGeom>
          <a:solidFill>
            <a:srgbClr val="E8A23D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40080" y="4325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1325880" y="424281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Документация и презентация</a:t>
            </a:r>
            <a:endParaRPr lang="en-US" sz="1550" dirty="0"/>
          </a:p>
        </p:txBody>
      </p:sp>
      <p:sp>
        <p:nvSpPr>
          <p:cNvPr id="37" name="Text 35"/>
          <p:cNvSpPr txBox="1"/>
          <p:nvPr/>
        </p:nvSpPr>
        <p:spPr>
          <a:xfrm>
            <a:off x="1325880" y="459028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Проектна документация и финална защита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Потребителски истории и story points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68096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188720"/>
            <a:ext cx="548640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Потребителска история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949440" y="11887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Точки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645920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645920"/>
            <a:ext cx="5486400" cy="5120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 и вход според роля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269480" y="173736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269480" y="1737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157984"/>
            <a:ext cx="7680960" cy="512064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2157984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2157984"/>
            <a:ext cx="5486400" cy="5120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Преподавател публикува теми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269480" y="22494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269480" y="2249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670048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2670048"/>
            <a:ext cx="5486400" cy="5120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 разглежда каталога с теми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269480" y="2761488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269480" y="2761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182112"/>
            <a:ext cx="7680960" cy="512064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7200" y="3182112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3182112"/>
            <a:ext cx="5486400" cy="5120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Заявка за тема и одобрение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269480" y="327355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269480" y="3273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3694176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463040" y="3694176"/>
            <a:ext cx="5486400" cy="5120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Проследяване на статус на работата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7269480" y="3785616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269480" y="3785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7200" y="4206240"/>
            <a:ext cx="7680960" cy="512064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57200" y="4206240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US6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463040" y="4206240"/>
            <a:ext cx="5486400" cy="5120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Качване на версии на документа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7269480" y="42976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269480" y="4297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718304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US7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1463040" y="4718304"/>
            <a:ext cx="5486400" cy="5120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Коментари от ръководителя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7269480" y="480974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269480" y="48097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57200" y="5230368"/>
            <a:ext cx="7680960" cy="512064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457200" y="5230368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US8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1463040" y="5230368"/>
            <a:ext cx="5486400" cy="5120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Имейл известия за събития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7269480" y="5321808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7269480" y="5321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8412480" y="1188720"/>
            <a:ext cx="3319272" cy="2194560"/>
          </a:xfrm>
          <a:prstGeom prst="roundRect">
            <a:avLst>
              <a:gd name="adj" fmla="val 3333"/>
            </a:avLst>
          </a:prstGeom>
          <a:solidFill>
            <a:srgbClr val="E8F0FB"/>
          </a:solidFill>
          <a:ln/>
          <a:effectLst>
            <a:outerShdw sx="100000" sy="100000" kx="0" ky="0" algn="bl" rotWithShape="0" blurRad="76200" dist="25400" dir="5400000">
              <a:srgbClr val="9AA7BD">
                <a:alpha val="35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8412480" y="1417320"/>
            <a:ext cx="3319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6000" dirty="0"/>
          </a:p>
        </p:txBody>
      </p:sp>
      <p:sp>
        <p:nvSpPr>
          <p:cNvPr id="45" name="Text 43"/>
          <p:cNvSpPr txBox="1"/>
          <p:nvPr/>
        </p:nvSpPr>
        <p:spPr>
          <a:xfrm>
            <a:off x="8412480" y="2468880"/>
            <a:ext cx="33192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точки за MVP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(US1 - US8)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8412480" y="3611880"/>
            <a:ext cx="3319272" cy="2194560"/>
          </a:xfrm>
          <a:prstGeom prst="roundRect">
            <a:avLst>
              <a:gd name="adj" fmla="val 3333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9AA7BD">
                <a:alpha val="35000"/>
              </a:srgbClr>
            </a:outerShdw>
          </a:effectLst>
        </p:spPr>
      </p:sp>
      <p:sp>
        <p:nvSpPr>
          <p:cNvPr id="47" name="Text 45"/>
          <p:cNvSpPr txBox="1"/>
          <p:nvPr/>
        </p:nvSpPr>
        <p:spPr>
          <a:xfrm>
            <a:off x="8412480" y="3840480"/>
            <a:ext cx="33192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F9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6000" dirty="0"/>
          </a:p>
        </p:txBody>
      </p:sp>
      <p:sp>
        <p:nvSpPr>
          <p:cNvPr id="48" name="Text 46"/>
          <p:cNvSpPr txBox="1"/>
          <p:nvPr/>
        </p:nvSpPr>
        <p:spPr>
          <a:xfrm>
            <a:off x="8412480" y="4892040"/>
            <a:ext cx="33192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точки за желани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функции (US9, US10)</a:t>
            </a:r>
            <a:endParaRPr lang="en-US" sz="1500" dirty="0"/>
          </a:p>
        </p:txBody>
      </p:sp>
      <p:sp>
        <p:nvSpPr>
          <p:cNvPr id="49" name="Text 47"/>
          <p:cNvSpPr txBox="1"/>
          <p:nvPr/>
        </p:nvSpPr>
        <p:spPr>
          <a:xfrm>
            <a:off x="457200" y="6080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по скалата на Фибоначи (1, 2, 3, 5, 8, 13) - усилие, не часове.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Технически процес и спринтове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645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9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Спринт 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031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Основа и вход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US1, US3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42032" y="2148840"/>
            <a:ext cx="201168" cy="365760"/>
          </a:xfrm>
          <a:prstGeom prst="chevron">
            <a:avLst/>
          </a:prstGeom>
          <a:solidFill>
            <a:srgbClr val="5B6B8C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0" y="1463040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743200" y="1645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9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Спринт 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21031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Теми и заявки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US2, US4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28032" y="2148840"/>
            <a:ext cx="201168" cy="365760"/>
          </a:xfrm>
          <a:prstGeom prst="chevron">
            <a:avLst/>
          </a:prstGeom>
          <a:solidFill>
            <a:srgbClr val="5B6B8C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0" y="1463040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29200" y="1645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9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Спринт 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21031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 и документи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US5, US6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114032" y="2148840"/>
            <a:ext cx="201168" cy="365760"/>
          </a:xfrm>
          <a:prstGeom prst="chevron">
            <a:avLst/>
          </a:prstGeom>
          <a:solidFill>
            <a:srgbClr val="5B6B8C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0" y="1463040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0" y="1645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9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Спринт 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0" y="21031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Връзка и известия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US7, US8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400032" y="2148840"/>
            <a:ext cx="201168" cy="365760"/>
          </a:xfrm>
          <a:prstGeom prst="chevron">
            <a:avLst/>
          </a:prstGeom>
          <a:solidFill>
            <a:srgbClr val="5B6B8C"/>
          </a:solidFill>
          <a:ln/>
        </p:spPr>
      </p:sp>
      <p:sp>
        <p:nvSpPr>
          <p:cNvPr id="19" name="Shape 17"/>
          <p:cNvSpPr/>
          <p:nvPr/>
        </p:nvSpPr>
        <p:spPr>
          <a:xfrm>
            <a:off x="9601200" y="1463040"/>
            <a:ext cx="2103120" cy="1737360"/>
          </a:xfrm>
          <a:prstGeom prst="roundRect">
            <a:avLst>
              <a:gd name="adj" fmla="val 4211"/>
            </a:avLst>
          </a:prstGeom>
          <a:solidFill>
            <a:srgbClr val="E8F0FB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01200" y="1645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Спринт 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0" y="21031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Буфер, желани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функции, тестове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4290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седмици на спринт  •  ~8-10 точки капацитет  •  4 спринта MVP + 1 буфер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06908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9AA7BD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4069080"/>
            <a:ext cx="128016" cy="868680"/>
          </a:xfrm>
          <a:prstGeom prst="roundRect">
            <a:avLst>
              <a:gd name="adj" fmla="val 35714"/>
            </a:avLst>
          </a:prstGeom>
          <a:solidFill>
            <a:srgbClr val="1F9E8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41788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Planning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45262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Избор на истории според капацитета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17920" y="406908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9AA7BD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17920" y="4069080"/>
            <a:ext cx="128016" cy="868680"/>
          </a:xfrm>
          <a:prstGeom prst="roundRect">
            <a:avLst>
              <a:gd name="adj" fmla="val 35714"/>
            </a:avLst>
          </a:prstGeom>
          <a:solidFill>
            <a:srgbClr val="1F9E8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37960" y="41788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Дневен преглед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537960" y="45262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Какво е готово, какво следва, пречки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507492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9AA7BD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" y="5074920"/>
            <a:ext cx="128016" cy="868680"/>
          </a:xfrm>
          <a:prstGeom prst="roundRect">
            <a:avLst>
              <a:gd name="adj" fmla="val 35714"/>
            </a:avLst>
          </a:prstGeom>
          <a:solidFill>
            <a:srgbClr val="1F9E8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77240" y="51846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Review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777240" y="55321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 пред ръководителя + обратна връзка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17920" y="507492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9AA7BD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17920" y="5074920"/>
            <a:ext cx="128016" cy="868680"/>
          </a:xfrm>
          <a:prstGeom prst="roundRect">
            <a:avLst>
              <a:gd name="adj" fmla="val 35714"/>
            </a:avLst>
          </a:prstGeom>
          <a:solidFill>
            <a:srgbClr val="1F9E8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537960" y="51846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Retrospective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537960" y="55321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Какво да подобря в следващия спринт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Заинтересовани страни и комуникация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Влияние / Интерес (1-5)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00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Научен ръководител (клиент)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566160" y="1709928"/>
            <a:ext cx="1143000" cy="237744"/>
          </a:xfrm>
          <a:prstGeom prst="rect">
            <a:avLst/>
          </a:prstGeom>
          <a:solidFill>
            <a:srgbClr val="E3E9F4"/>
          </a:solidFill>
          <a:ln/>
        </p:spPr>
      </p:sp>
      <p:sp>
        <p:nvSpPr>
          <p:cNvPr id="6" name="Shape 4"/>
          <p:cNvSpPr/>
          <p:nvPr/>
        </p:nvSpPr>
        <p:spPr>
          <a:xfrm>
            <a:off x="3566160" y="1709928"/>
            <a:ext cx="1143000" cy="23774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4846320" y="1709928"/>
            <a:ext cx="1143000" cy="237744"/>
          </a:xfrm>
          <a:prstGeom prst="rect">
            <a:avLst/>
          </a:prstGeom>
          <a:solidFill>
            <a:srgbClr val="E3E9F4"/>
          </a:solidFill>
          <a:ln/>
        </p:spPr>
      </p:sp>
      <p:sp>
        <p:nvSpPr>
          <p:cNvPr id="8" name="Shape 6"/>
          <p:cNvSpPr/>
          <p:nvPr/>
        </p:nvSpPr>
        <p:spPr>
          <a:xfrm>
            <a:off x="4846320" y="1709928"/>
            <a:ext cx="1143000" cy="237744"/>
          </a:xfrm>
          <a:prstGeom prst="rect">
            <a:avLst/>
          </a:prstGeom>
          <a:solidFill>
            <a:srgbClr val="1F9E8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21305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Студенти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566160" y="2240280"/>
            <a:ext cx="1143000" cy="237744"/>
          </a:xfrm>
          <a:prstGeom prst="rect">
            <a:avLst/>
          </a:prstGeom>
          <a:solidFill>
            <a:srgbClr val="E3E9F4"/>
          </a:solidFill>
          <a:ln/>
        </p:spPr>
      </p:sp>
      <p:sp>
        <p:nvSpPr>
          <p:cNvPr id="11" name="Shape 9"/>
          <p:cNvSpPr/>
          <p:nvPr/>
        </p:nvSpPr>
        <p:spPr>
          <a:xfrm>
            <a:off x="3566160" y="2240280"/>
            <a:ext cx="685800" cy="23774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4846320" y="2240280"/>
            <a:ext cx="1143000" cy="237744"/>
          </a:xfrm>
          <a:prstGeom prst="rect">
            <a:avLst/>
          </a:prstGeom>
          <a:solidFill>
            <a:srgbClr val="E3E9F4"/>
          </a:solidFill>
          <a:ln/>
        </p:spPr>
      </p:sp>
      <p:sp>
        <p:nvSpPr>
          <p:cNvPr id="13" name="Shape 11"/>
          <p:cNvSpPr/>
          <p:nvPr/>
        </p:nvSpPr>
        <p:spPr>
          <a:xfrm>
            <a:off x="4846320" y="2240280"/>
            <a:ext cx="1143000" cy="237744"/>
          </a:xfrm>
          <a:prstGeom prst="rect">
            <a:avLst/>
          </a:prstGeom>
          <a:solidFill>
            <a:srgbClr val="1F9E8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266090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Преподаватели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566160" y="2770632"/>
            <a:ext cx="1143000" cy="237744"/>
          </a:xfrm>
          <a:prstGeom prst="rect">
            <a:avLst/>
          </a:prstGeom>
          <a:solidFill>
            <a:srgbClr val="E3E9F4"/>
          </a:solidFill>
          <a:ln/>
        </p:spPr>
      </p:sp>
      <p:sp>
        <p:nvSpPr>
          <p:cNvPr id="16" name="Shape 14"/>
          <p:cNvSpPr/>
          <p:nvPr/>
        </p:nvSpPr>
        <p:spPr>
          <a:xfrm>
            <a:off x="3566160" y="2770632"/>
            <a:ext cx="914400" cy="23774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Shape 15"/>
          <p:cNvSpPr/>
          <p:nvPr/>
        </p:nvSpPr>
        <p:spPr>
          <a:xfrm>
            <a:off x="4846320" y="2770632"/>
            <a:ext cx="1143000" cy="237744"/>
          </a:xfrm>
          <a:prstGeom prst="rect">
            <a:avLst/>
          </a:prstGeom>
          <a:solidFill>
            <a:srgbClr val="E3E9F4"/>
          </a:solidFill>
          <a:ln/>
        </p:spPr>
      </p:sp>
      <p:sp>
        <p:nvSpPr>
          <p:cNvPr id="18" name="Shape 16"/>
          <p:cNvSpPr/>
          <p:nvPr/>
        </p:nvSpPr>
        <p:spPr>
          <a:xfrm>
            <a:off x="4846320" y="2770632"/>
            <a:ext cx="914400" cy="237744"/>
          </a:xfrm>
          <a:prstGeom prst="rect">
            <a:avLst/>
          </a:prstGeom>
          <a:solidFill>
            <a:srgbClr val="1F9E8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319125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Ръководител на катедра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566160" y="3300984"/>
            <a:ext cx="1143000" cy="237744"/>
          </a:xfrm>
          <a:prstGeom prst="rect">
            <a:avLst/>
          </a:prstGeom>
          <a:solidFill>
            <a:srgbClr val="E3E9F4"/>
          </a:solidFill>
          <a:ln/>
        </p:spPr>
      </p:sp>
      <p:sp>
        <p:nvSpPr>
          <p:cNvPr id="21" name="Shape 19"/>
          <p:cNvSpPr/>
          <p:nvPr/>
        </p:nvSpPr>
        <p:spPr>
          <a:xfrm>
            <a:off x="3566160" y="3300984"/>
            <a:ext cx="914400" cy="23774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Shape 20"/>
          <p:cNvSpPr/>
          <p:nvPr/>
        </p:nvSpPr>
        <p:spPr>
          <a:xfrm>
            <a:off x="4846320" y="3300984"/>
            <a:ext cx="1143000" cy="237744"/>
          </a:xfrm>
          <a:prstGeom prst="rect">
            <a:avLst/>
          </a:prstGeom>
          <a:solidFill>
            <a:srgbClr val="E3E9F4"/>
          </a:solidFill>
          <a:ln/>
        </p:spPr>
      </p:sp>
      <p:sp>
        <p:nvSpPr>
          <p:cNvPr id="23" name="Shape 21"/>
          <p:cNvSpPr/>
          <p:nvPr/>
        </p:nvSpPr>
        <p:spPr>
          <a:xfrm>
            <a:off x="4846320" y="3300984"/>
            <a:ext cx="685800" cy="237744"/>
          </a:xfrm>
          <a:prstGeom prst="rect">
            <a:avLst/>
          </a:prstGeom>
          <a:solidFill>
            <a:srgbClr val="1F9E8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57200" y="37216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Учебен отдел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566160" y="3831336"/>
            <a:ext cx="1143000" cy="237744"/>
          </a:xfrm>
          <a:prstGeom prst="rect">
            <a:avLst/>
          </a:prstGeom>
          <a:solidFill>
            <a:srgbClr val="E3E9F4"/>
          </a:solidFill>
          <a:ln/>
        </p:spPr>
      </p:sp>
      <p:sp>
        <p:nvSpPr>
          <p:cNvPr id="26" name="Shape 24"/>
          <p:cNvSpPr/>
          <p:nvPr/>
        </p:nvSpPr>
        <p:spPr>
          <a:xfrm>
            <a:off x="3566160" y="3831336"/>
            <a:ext cx="685800" cy="23774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Shape 25"/>
          <p:cNvSpPr/>
          <p:nvPr/>
        </p:nvSpPr>
        <p:spPr>
          <a:xfrm>
            <a:off x="4846320" y="3831336"/>
            <a:ext cx="1143000" cy="237744"/>
          </a:xfrm>
          <a:prstGeom prst="rect">
            <a:avLst/>
          </a:prstGeom>
          <a:solidFill>
            <a:srgbClr val="E3E9F4"/>
          </a:solidFill>
          <a:ln/>
        </p:spPr>
      </p:sp>
      <p:sp>
        <p:nvSpPr>
          <p:cNvPr id="28" name="Shape 26"/>
          <p:cNvSpPr/>
          <p:nvPr/>
        </p:nvSpPr>
        <p:spPr>
          <a:xfrm>
            <a:off x="4846320" y="3831336"/>
            <a:ext cx="685800" cy="237744"/>
          </a:xfrm>
          <a:prstGeom prst="rect">
            <a:avLst/>
          </a:prstGeom>
          <a:solidFill>
            <a:srgbClr val="1F9E8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57200" y="4251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 отдел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566160" y="4361688"/>
            <a:ext cx="1143000" cy="237744"/>
          </a:xfrm>
          <a:prstGeom prst="rect">
            <a:avLst/>
          </a:prstGeom>
          <a:solidFill>
            <a:srgbClr val="E3E9F4"/>
          </a:solidFill>
          <a:ln/>
        </p:spPr>
      </p:sp>
      <p:sp>
        <p:nvSpPr>
          <p:cNvPr id="31" name="Shape 29"/>
          <p:cNvSpPr/>
          <p:nvPr/>
        </p:nvSpPr>
        <p:spPr>
          <a:xfrm>
            <a:off x="3566160" y="4361688"/>
            <a:ext cx="685800" cy="23774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2" name="Shape 30"/>
          <p:cNvSpPr/>
          <p:nvPr/>
        </p:nvSpPr>
        <p:spPr>
          <a:xfrm>
            <a:off x="4846320" y="4361688"/>
            <a:ext cx="1143000" cy="237744"/>
          </a:xfrm>
          <a:prstGeom prst="rect">
            <a:avLst/>
          </a:prstGeom>
          <a:solidFill>
            <a:srgbClr val="E3E9F4"/>
          </a:solidFill>
          <a:ln/>
        </p:spPr>
      </p:sp>
      <p:sp>
        <p:nvSpPr>
          <p:cNvPr id="33" name="Shape 31"/>
          <p:cNvSpPr/>
          <p:nvPr/>
        </p:nvSpPr>
        <p:spPr>
          <a:xfrm>
            <a:off x="4846320" y="4361688"/>
            <a:ext cx="457200" cy="237744"/>
          </a:xfrm>
          <a:prstGeom prst="rect">
            <a:avLst/>
          </a:prstGeom>
          <a:solidFill>
            <a:srgbClr val="1F9E8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3566160" y="48280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Влияние    </a:t>
            </a:r>
            <a:pPr indent="0" marL="0">
              <a:buNone/>
            </a:pPr>
            <a:r>
              <a:rPr lang="en-US" sz="1100" dirty="0">
                <a:solidFill>
                  <a:srgbClr val="1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Интерес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92240" y="1188720"/>
            <a:ext cx="5239512" cy="4892040"/>
          </a:xfrm>
          <a:prstGeom prst="roundRect">
            <a:avLst>
              <a:gd name="adj" fmla="val 1495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5400000">
              <a:srgbClr val="9AA7BD">
                <a:alpha val="35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6766560" y="14173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КОМУНИКАЦИОНЕН ПЛАН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812280" y="1984248"/>
            <a:ext cx="109728" cy="109728"/>
          </a:xfrm>
          <a:prstGeom prst="ellipse">
            <a:avLst/>
          </a:prstGeom>
          <a:solidFill>
            <a:srgbClr val="1F9E8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040880" y="18745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Състояние на проекта: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Ръководител - имейл, официален - всеки спринт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812280" y="2651760"/>
            <a:ext cx="109728" cy="109728"/>
          </a:xfrm>
          <a:prstGeom prst="ellipse">
            <a:avLst/>
          </a:prstGeom>
          <a:solidFill>
            <a:srgbClr val="1F9E8F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040880" y="254203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Демонстрация: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Ръководител - среща, официален - Sprint Review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812280" y="3319272"/>
            <a:ext cx="109728" cy="109728"/>
          </a:xfrm>
          <a:prstGeom prst="ellipse">
            <a:avLst/>
          </a:prstGeom>
          <a:solidFill>
            <a:srgbClr val="1F9E8F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7040880" y="3209544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Рискове и проблеми: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Ръководител - имейл/тел., официален - при нужда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812280" y="3986784"/>
            <a:ext cx="109728" cy="109728"/>
          </a:xfrm>
          <a:prstGeom prst="ellipse">
            <a:avLst/>
          </a:prstGeom>
          <a:solidFill>
            <a:srgbClr val="1F9E8F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7040880" y="387705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Промени на обхвата: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Ръководител/катедра - имейл - при възникване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6812280" y="4654296"/>
            <a:ext cx="109728" cy="109728"/>
          </a:xfrm>
          <a:prstGeom prst="ellipse">
            <a:avLst/>
          </a:prstGeom>
          <a:solidFill>
            <a:srgbClr val="1F9E8F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7040880" y="454456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Обратна връзка: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Потребители - анкета, неофициален - след демо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6812280" y="5321808"/>
            <a:ext cx="109728" cy="109728"/>
          </a:xfrm>
          <a:prstGeom prst="ellipse">
            <a:avLst/>
          </a:prstGeom>
          <a:solidFill>
            <a:srgbClr val="1F9E8F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7040880" y="521208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Напредък по задачи: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Лично - дъска (Trello/GitHub) - ежедневно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F9E8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Заключение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600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СУДР решава реален проблем във висшите училища чрез единна, прозрачна платформа, изградена гъвкаво.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265176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2B3A77"/>
          </a:solidFill>
          <a:ln w="12700">
            <a:solidFill>
              <a:srgbClr val="3A5B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990088"/>
            <a:ext cx="502920" cy="502920"/>
          </a:xfrm>
          <a:prstGeom prst="ellipse">
            <a:avLst/>
          </a:prstGeom>
          <a:solidFill>
            <a:srgbClr val="1F9E8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2990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834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Ясен обхват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32186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C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с минималните изисквания, желаните - опционални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265176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2B3A77"/>
          </a:solidFill>
          <a:ln w="12700">
            <a:solidFill>
              <a:srgbClr val="3A5B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2990088"/>
            <a:ext cx="502920" cy="502920"/>
          </a:xfrm>
          <a:prstGeom prst="ellipse">
            <a:avLst/>
          </a:prstGeom>
          <a:solidFill>
            <a:srgbClr val="1F9E8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46520" y="2990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2834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32186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C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Кратки спринтове, ранен резултат, нисък риск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1520" y="402336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2B3A77"/>
          </a:solidFill>
          <a:ln w="12700">
            <a:solidFill>
              <a:srgbClr val="3A5BA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4361688"/>
            <a:ext cx="502920" cy="502920"/>
          </a:xfrm>
          <a:prstGeom prst="ellipse">
            <a:avLst/>
          </a:prstGeom>
          <a:solidFill>
            <a:srgbClr val="1F9E8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4361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4206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Планирани рискове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645920" y="45902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C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риска със стратегии за смекчаване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17920" y="402336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2B3A77"/>
          </a:solidFill>
          <a:ln w="12700">
            <a:solidFill>
              <a:srgbClr val="3A5B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4361688"/>
            <a:ext cx="502920" cy="502920"/>
          </a:xfrm>
          <a:prstGeom prst="ellipse">
            <a:avLst/>
          </a:prstGeom>
          <a:solidFill>
            <a:srgbClr val="1F9E8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46520" y="4361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4206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Готов за защита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132320" y="45902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C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Пълна документация и презентация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Благодаря за вниманието!  •  Галин Петров, СИ 2301322006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СУДР - Курсов проект</dc:title>
  <dc:subject>PptxGenJS Presentation</dc:subject>
  <dc:creator>Галин Петров</dc:creator>
  <cp:lastModifiedBy>Галин Петров</cp:lastModifiedBy>
  <cp:revision>1</cp:revision>
  <dcterms:created xsi:type="dcterms:W3CDTF">2026-10-04T09:36:18Z</dcterms:created>
  <dcterms:modified xsi:type="dcterms:W3CDTF">2026-10-04T09:36:18Z</dcterms:modified>
</cp:coreProperties>
</file>